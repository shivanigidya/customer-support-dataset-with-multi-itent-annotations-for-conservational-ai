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70" r:id="rId4"/>
    <p:sldId id="281" r:id="rId5"/>
    <p:sldId id="280" r:id="rId6"/>
    <p:sldId id="263" r:id="rId7"/>
    <p:sldId id="264" r:id="rId8"/>
    <p:sldId id="282" r:id="rId9"/>
    <p:sldId id="279" r:id="rId10"/>
    <p:sldId id="273" r:id="rId11"/>
    <p:sldId id="277" r:id="rId12"/>
    <p:sldId id="278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3" r:id="rId23"/>
    <p:sldId id="292" r:id="rId24"/>
    <p:sldId id="294" r:id="rId25"/>
    <p:sldId id="295" r:id="rId26"/>
    <p:sldId id="296" r:id="rId27"/>
    <p:sldId id="297" r:id="rId28"/>
    <p:sldId id="27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165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E4DC-291E-49F1-A238-889CC58A8D9B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45EC-DE58-4A93-9691-1D6501F2FA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E4DC-291E-49F1-A238-889CC58A8D9B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45EC-DE58-4A93-9691-1D6501F2FA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E4DC-291E-49F1-A238-889CC58A8D9B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45EC-DE58-4A93-9691-1D6501F2FA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E4DC-291E-49F1-A238-889CC58A8D9B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45EC-DE58-4A93-9691-1D6501F2FA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E4DC-291E-49F1-A238-889CC58A8D9B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45EC-DE58-4A93-9691-1D6501F2FA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E4DC-291E-49F1-A238-889CC58A8D9B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45EC-DE58-4A93-9691-1D6501F2FA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E4DC-291E-49F1-A238-889CC58A8D9B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45EC-DE58-4A93-9691-1D6501F2FA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E4DC-291E-49F1-A238-889CC58A8D9B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45EC-DE58-4A93-9691-1D6501F2FA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E4DC-291E-49F1-A238-889CC58A8D9B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45EC-DE58-4A93-9691-1D6501F2FA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E4DC-291E-49F1-A238-889CC58A8D9B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45EC-DE58-4A93-9691-1D6501F2FA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E4DC-291E-49F1-A238-889CC58A8D9B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45EC-DE58-4A93-9691-1D6501F2FA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7E4DC-291E-49F1-A238-889CC58A8D9B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A45EC-DE58-4A93-9691-1D6501F2FAB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app15137267" TargetMode="External"/><Relationship Id="rId2" Type="http://schemas.openxmlformats.org/officeDocument/2006/relationships/hyperlink" Target="https://doi.org/10.3390/app13137807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3390/math11030769" TargetMode="External"/><Relationship Id="rId4" Type="http://schemas.openxmlformats.org/officeDocument/2006/relationships/hyperlink" Target="https://doi.org/10.3390/su15054012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ivanigidya/Customer-support-dataset-with-multi-itent-annotations-for-conservational-AI/tree/main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400685" y="176530"/>
            <a:ext cx="1904365" cy="1351915"/>
          </a:xfrm>
          <a:custGeom>
            <a:avLst/>
            <a:gdLst/>
            <a:ahLst/>
            <a:cxnLst/>
            <a:rect l="l" t="t" r="r" b="b"/>
            <a:pathLst>
              <a:path w="2500093" h="1738078">
                <a:moveTo>
                  <a:pt x="0" y="0"/>
                </a:moveTo>
                <a:lnTo>
                  <a:pt x="2500093" y="0"/>
                </a:lnTo>
                <a:lnTo>
                  <a:pt x="2500093" y="1738078"/>
                </a:lnTo>
                <a:lnTo>
                  <a:pt x="0" y="17380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319530" y="611505"/>
            <a:ext cx="9205595" cy="14344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615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CMR Technical Campus</a:t>
            </a:r>
          </a:p>
          <a:p>
            <a:pPr algn="ctr">
              <a:lnSpc>
                <a:spcPts val="2615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endParaRPr lang="en-US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615"/>
              </a:lnSpc>
            </a:pPr>
            <a:endParaRPr lang="en-US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615"/>
              </a:lnSpc>
            </a:pP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Stage-II</a:t>
            </a:r>
          </a:p>
          <a:p>
            <a:pPr algn="ctr">
              <a:lnSpc>
                <a:spcPts val="2615"/>
              </a:lnSpc>
            </a:pP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Review-2</a:t>
            </a:r>
          </a:p>
          <a:p>
            <a:pPr algn="ctr">
              <a:lnSpc>
                <a:spcPts val="2615"/>
              </a:lnSpc>
            </a:pPr>
            <a:endParaRPr 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615"/>
              </a:lnSpc>
            </a:pPr>
            <a:endParaRPr 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06730" y="2428875"/>
            <a:ext cx="10875645" cy="9023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615"/>
              </a:lnSpc>
            </a:pPr>
            <a:endParaRPr lang="en-US" sz="186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615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Project Title: Customer Support Dataset With Multi-Intent Annotations for Conversational AI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734695" y="3582670"/>
            <a:ext cx="4064000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  <a:endParaRPr lang="en-US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Mrs K.Supriya Suhasini</a:t>
            </a:r>
          </a:p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Designation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Assistant Professor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7304405" y="4167505"/>
            <a:ext cx="5365115" cy="1335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>
                <a:solidFill>
                  <a:srgbClr val="00B0F0"/>
                </a:solidFill>
              </a:rPr>
              <a:t>Presented By</a:t>
            </a:r>
            <a:r>
              <a:rPr lang="en-US"/>
              <a:t>:</a:t>
            </a:r>
          </a:p>
          <a:p>
            <a:r>
              <a:rPr lang="en-US"/>
              <a:t>Batch No: 18</a:t>
            </a:r>
          </a:p>
          <a:p>
            <a:r>
              <a:rPr lang="en-US"/>
              <a:t>1.H.No: 227R1A1286        Name: G. Shivani</a:t>
            </a:r>
          </a:p>
          <a:p>
            <a:r>
              <a:rPr lang="en-US"/>
              <a:t>2.H.No: </a:t>
            </a:r>
            <a:r>
              <a:rPr lang="en-US">
                <a:sym typeface="+mn-ea"/>
              </a:rPr>
              <a:t>227R1A12B7        Name: N.Thriveni</a:t>
            </a:r>
          </a:p>
          <a:p>
            <a:r>
              <a:rPr lang="en-US"/>
              <a:t>3.H.No: </a:t>
            </a:r>
            <a:r>
              <a:rPr lang="en-US">
                <a:sym typeface="+mn-ea"/>
              </a:rPr>
              <a:t> 227R1A1282       Name: D.Akhilesh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2615" y="186690"/>
            <a:ext cx="4036695" cy="913130"/>
            <a:chOff x="0" y="-19050"/>
            <a:chExt cx="2109623" cy="493798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2109623" cy="455698"/>
            </a:xfrm>
            <a:custGeom>
              <a:avLst/>
              <a:gdLst/>
              <a:ahLst/>
              <a:cxnLst/>
              <a:rect l="l" t="t" r="r" b="b"/>
              <a:pathLst>
                <a:path w="2109623" h="455698">
                  <a:moveTo>
                    <a:pt x="0" y="0"/>
                  </a:moveTo>
                  <a:lnTo>
                    <a:pt x="2109623" y="0"/>
                  </a:lnTo>
                  <a:lnTo>
                    <a:pt x="2109623" y="455698"/>
                  </a:lnTo>
                  <a:lnTo>
                    <a:pt x="0" y="455698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9623" cy="49379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201160" y="186690"/>
            <a:ext cx="4034790" cy="790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5"/>
              </a:lnSpc>
            </a:pPr>
            <a:r>
              <a:rPr lang="en-US" sz="3200" b="1">
                <a:solidFill>
                  <a:srgbClr val="000000"/>
                </a:solidFill>
                <a:latin typeface="Times New Roman Bold" panose="02030802070405020303"/>
              </a:rPr>
              <a:t>CONTENTS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3625" y="1275758"/>
            <a:ext cx="7185686" cy="5131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784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Overview</a:t>
            </a:r>
          </a:p>
          <a:p>
            <a:pPr marL="389890" lvl="1" indent="-19494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Existing system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lvl="1" indent="-19494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Existing system - disadvantages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784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53784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– advantages</a:t>
            </a:r>
          </a:p>
          <a:p>
            <a:pPr marL="53784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Hardware/Software requirements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784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project</a:t>
            </a:r>
          </a:p>
          <a:p>
            <a:pPr marL="53784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53784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53784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  <a:p>
            <a:pPr marL="53784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  <a:p>
            <a:pPr marL="53784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53784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Enhancement</a:t>
            </a:r>
          </a:p>
          <a:p>
            <a:pPr marL="389890" lvl="1" indent="-19494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References</a:t>
            </a:r>
          </a:p>
          <a:p>
            <a:pPr marL="389890" lvl="1" indent="-19494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GitHub Link</a:t>
            </a:r>
          </a:p>
          <a:p>
            <a:pPr marL="389890" lvl="1" indent="-194945" algn="just">
              <a:lnSpc>
                <a:spcPct val="150000"/>
              </a:lnSpc>
              <a:buFont typeface="Arial" panose="020B0604020202020204"/>
              <a:buChar char="•"/>
            </a:pP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034030" y="457200"/>
            <a:ext cx="7106285" cy="1013460"/>
            <a:chOff x="0" y="0"/>
            <a:chExt cx="2109623" cy="400405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2109623" cy="400405"/>
            </a:xfrm>
            <a:custGeom>
              <a:avLst/>
              <a:gdLst/>
              <a:ahLst/>
              <a:cxnLst/>
              <a:rect l="l" t="t" r="r" b="b"/>
              <a:pathLst>
                <a:path w="2109623" h="400405">
                  <a:moveTo>
                    <a:pt x="0" y="0"/>
                  </a:moveTo>
                  <a:lnTo>
                    <a:pt x="2109623" y="0"/>
                  </a:lnTo>
                  <a:lnTo>
                    <a:pt x="2109623" y="400405"/>
                  </a:lnTo>
                  <a:lnTo>
                    <a:pt x="0" y="400405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09623" cy="438505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395855" y="457200"/>
            <a:ext cx="8533765" cy="790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5"/>
              </a:lnSpc>
            </a:pPr>
            <a:r>
              <a:rPr lang="en-US" sz="3200" b="1">
                <a:solidFill>
                  <a:srgbClr val="000000"/>
                </a:solidFill>
                <a:latin typeface="Times New Roman Bold" panose="02030802070405020303"/>
              </a:rPr>
              <a:t>INTRODUCTION AND OVERVIEW</a:t>
            </a:r>
          </a:p>
        </p:txBody>
      </p:sp>
      <p:sp>
        <p:nvSpPr>
          <p:cNvPr id="3" name="Freeform 3"/>
          <p:cNvSpPr/>
          <p:nvPr/>
        </p:nvSpPr>
        <p:spPr>
          <a:xfrm>
            <a:off x="592282" y="1986199"/>
            <a:ext cx="10820400" cy="4351101"/>
          </a:xfrm>
          <a:custGeom>
            <a:avLst/>
            <a:gdLst/>
            <a:ahLst/>
            <a:cxnLst/>
            <a:rect l="l" t="t" r="r" b="b"/>
            <a:pathLst>
              <a:path w="4274726" h="1718953">
                <a:moveTo>
                  <a:pt x="0" y="0"/>
                </a:moveTo>
                <a:lnTo>
                  <a:pt x="4274726" y="0"/>
                </a:lnTo>
                <a:lnTo>
                  <a:pt x="4274726" y="1718953"/>
                </a:lnTo>
                <a:lnTo>
                  <a:pt x="0" y="1718953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Box 4"/>
          <p:cNvSpPr txBox="1"/>
          <p:nvPr/>
        </p:nvSpPr>
        <p:spPr>
          <a:xfrm>
            <a:off x="685800" y="1763830"/>
            <a:ext cx="10820400" cy="4447542"/>
          </a:xfrm>
          <a:prstGeom prst="rect">
            <a:avLst/>
          </a:prstGeom>
          <a:solidFill>
            <a:schemeClr val="bg1"/>
          </a:solidFill>
        </p:spPr>
        <p:txBody>
          <a:bodyPr lIns="33867" tIns="33867" rIns="33867" bIns="33867" rtlCol="0" anchor="ctr"/>
          <a:lstStyle/>
          <a:p>
            <a:pPr algn="ctr">
              <a:lnSpc>
                <a:spcPts val="1775"/>
              </a:lnSpc>
              <a:spcBef>
                <a:spcPct val="0"/>
              </a:spcBef>
            </a:pP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430530" y="1796114"/>
            <a:ext cx="11368405" cy="4715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customer support systems rely on manual intent annotation, which is time-consuming, inconsistent, and difficult to scale when handling large volumes of customer queries. To address these challenges, this project proposes an advanced NLP-based customer support framework using a multi-intent annotated text dataset. The system integrates MiniLM embeddings for contextual feature extraction, SMOTE for handling data imbalance, and a DNN-assisted KNN classifier to accurately predict both the intent and category of customer queries. The proposed model is further deployed within a real-time chatbot interface, enhancing automation, scalability, response accuracy, and overall customer satisfaction in modern customer support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723005" y="458470"/>
            <a:ext cx="4763135" cy="927100"/>
            <a:chOff x="0" y="0"/>
            <a:chExt cx="2109623" cy="366307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2109623" cy="366307"/>
            </a:xfrm>
            <a:custGeom>
              <a:avLst/>
              <a:gdLst/>
              <a:ahLst/>
              <a:cxnLst/>
              <a:rect l="l" t="t" r="r" b="b"/>
              <a:pathLst>
                <a:path w="2109623" h="366307">
                  <a:moveTo>
                    <a:pt x="0" y="0"/>
                  </a:moveTo>
                  <a:lnTo>
                    <a:pt x="2109623" y="0"/>
                  </a:lnTo>
                  <a:lnTo>
                    <a:pt x="2109623" y="366307"/>
                  </a:lnTo>
                  <a:lnTo>
                    <a:pt x="0" y="366307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09623" cy="404407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638550" y="527050"/>
            <a:ext cx="4847590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95"/>
              </a:lnSpc>
            </a:pPr>
            <a:r>
              <a:rPr lang="en-US" sz="3200" b="1">
                <a:solidFill>
                  <a:srgbClr val="000000"/>
                </a:solidFill>
                <a:latin typeface="Times New Roman Bold" panose="02030802070405020303"/>
              </a:rPr>
              <a:t>EXISTING SYSTEM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320040" y="1630330"/>
            <a:ext cx="11521440" cy="4904732"/>
            <a:chOff x="0" y="0"/>
            <a:chExt cx="4274726" cy="1718953"/>
          </a:xfrm>
          <a:solidFill>
            <a:schemeClr val="bg1"/>
          </a:solidFill>
        </p:grpSpPr>
        <p:sp>
          <p:nvSpPr>
            <p:cNvPr id="4" name="Freeform 3"/>
            <p:cNvSpPr/>
            <p:nvPr/>
          </p:nvSpPr>
          <p:spPr>
            <a:xfrm>
              <a:off x="0" y="0"/>
              <a:ext cx="4274726" cy="1718953"/>
            </a:xfrm>
            <a:custGeom>
              <a:avLst/>
              <a:gdLst/>
              <a:ahLst/>
              <a:cxnLst/>
              <a:rect l="l" t="t" r="r" b="b"/>
              <a:pathLst>
                <a:path w="4274726" h="1718953">
                  <a:moveTo>
                    <a:pt x="0" y="0"/>
                  </a:moveTo>
                  <a:lnTo>
                    <a:pt x="4274726" y="0"/>
                  </a:lnTo>
                  <a:lnTo>
                    <a:pt x="4274726" y="1718953"/>
                  </a:lnTo>
                  <a:lnTo>
                    <a:pt x="0" y="171895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4"/>
            <p:cNvSpPr txBox="1"/>
            <p:nvPr/>
          </p:nvSpPr>
          <p:spPr>
            <a:xfrm>
              <a:off x="0" y="-38100"/>
              <a:ext cx="4274726" cy="1757053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75310" y="1924685"/>
            <a:ext cx="11087735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queries are handled primarily by human agents through calls, emails, or messages.</a:t>
            </a:r>
          </a:p>
          <a:p>
            <a:pPr marL="342900" indent="-3429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 identification and categorization are performed manually based on agent experience and judgment.</a:t>
            </a:r>
          </a:p>
          <a:p>
            <a:pPr marL="342900" indent="-3429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and reporting are carried out using spreadsheets, or manual records.</a:t>
            </a:r>
          </a:p>
          <a:p>
            <a:pPr marL="342900" indent="-3429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follows rule-based or keyword-based approaches (e.g., identifying keywords like billing or technical).</a:t>
            </a:r>
          </a:p>
          <a:p>
            <a:pPr marL="342900" indent="-3429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and analytics are generated periodically through manual counting and report preparation.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707130" y="458470"/>
            <a:ext cx="4790440" cy="1153795"/>
            <a:chOff x="0" y="0"/>
            <a:chExt cx="2109623" cy="455698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2109623" cy="455698"/>
            </a:xfrm>
            <a:custGeom>
              <a:avLst/>
              <a:gdLst/>
              <a:ahLst/>
              <a:cxnLst/>
              <a:rect l="l" t="t" r="r" b="b"/>
              <a:pathLst>
                <a:path w="2109623" h="455698">
                  <a:moveTo>
                    <a:pt x="0" y="0"/>
                  </a:moveTo>
                  <a:lnTo>
                    <a:pt x="2109623" y="0"/>
                  </a:lnTo>
                  <a:lnTo>
                    <a:pt x="2109623" y="455698"/>
                  </a:lnTo>
                  <a:lnTo>
                    <a:pt x="0" y="455698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09623" cy="49379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707130" y="476250"/>
            <a:ext cx="4883150" cy="1005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 Bold" panose="02030802070405020303"/>
              </a:rPr>
              <a:t>EXISTING SYSTEM -DISADVANTAGES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93420" y="1764222"/>
            <a:ext cx="10805160" cy="4433543"/>
            <a:chOff x="0" y="0"/>
            <a:chExt cx="4274726" cy="1718953"/>
          </a:xfrm>
          <a:solidFill>
            <a:schemeClr val="bg1"/>
          </a:solidFill>
        </p:grpSpPr>
        <p:sp>
          <p:nvSpPr>
            <p:cNvPr id="4" name="Freeform 3"/>
            <p:cNvSpPr/>
            <p:nvPr/>
          </p:nvSpPr>
          <p:spPr>
            <a:xfrm>
              <a:off x="0" y="0"/>
              <a:ext cx="4274726" cy="1718953"/>
            </a:xfrm>
            <a:custGeom>
              <a:avLst/>
              <a:gdLst/>
              <a:ahLst/>
              <a:cxnLst/>
              <a:rect l="l" t="t" r="r" b="b"/>
              <a:pathLst>
                <a:path w="4274726" h="1718953">
                  <a:moveTo>
                    <a:pt x="0" y="0"/>
                  </a:moveTo>
                  <a:lnTo>
                    <a:pt x="4274726" y="0"/>
                  </a:lnTo>
                  <a:lnTo>
                    <a:pt x="4274726" y="1718953"/>
                  </a:lnTo>
                  <a:lnTo>
                    <a:pt x="0" y="171895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4"/>
            <p:cNvSpPr txBox="1"/>
            <p:nvPr/>
          </p:nvSpPr>
          <p:spPr>
            <a:xfrm>
              <a:off x="0" y="-38100"/>
              <a:ext cx="4274726" cy="1757053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17078" y="1835868"/>
            <a:ext cx="10514343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Scalability: Unable to efficiently handle large volumes of customer queries simultaneously.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Error Rate: Manual annotation and human judgment lead to inconsistent intent classification.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Process: Data analysis, reporting, and query resolution require significant manual effort.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30320" y="332105"/>
            <a:ext cx="4553585" cy="784225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830320" y="332105"/>
            <a:ext cx="4483100" cy="45466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4525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 Bold" panose="02030802070405020303"/>
              </a:rPr>
              <a:t>PROPOSED SYSTEM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99110" y="1422370"/>
            <a:ext cx="11193780" cy="4884479"/>
            <a:chOff x="0" y="273473"/>
            <a:chExt cx="4309394" cy="1746828"/>
          </a:xfrm>
        </p:grpSpPr>
        <p:sp>
          <p:nvSpPr>
            <p:cNvPr id="4" name="Freeform 3"/>
            <p:cNvSpPr/>
            <p:nvPr/>
          </p:nvSpPr>
          <p:spPr>
            <a:xfrm>
              <a:off x="34668" y="301348"/>
              <a:ext cx="4274726" cy="1718953"/>
            </a:xfrm>
            <a:custGeom>
              <a:avLst/>
              <a:gdLst/>
              <a:ahLst/>
              <a:cxnLst/>
              <a:rect l="l" t="t" r="r" b="b"/>
              <a:pathLst>
                <a:path w="4274726" h="1718953">
                  <a:moveTo>
                    <a:pt x="0" y="0"/>
                  </a:moveTo>
                  <a:lnTo>
                    <a:pt x="4274726" y="0"/>
                  </a:lnTo>
                  <a:lnTo>
                    <a:pt x="4274726" y="1718953"/>
                  </a:lnTo>
                  <a:lnTo>
                    <a:pt x="0" y="1718953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4"/>
            <p:cNvSpPr txBox="1"/>
            <p:nvPr/>
          </p:nvSpPr>
          <p:spPr>
            <a:xfrm>
              <a:off x="0" y="273473"/>
              <a:ext cx="4274680" cy="144545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9" name="TextBox 11"/>
          <p:cNvSpPr txBox="1"/>
          <p:nvPr/>
        </p:nvSpPr>
        <p:spPr>
          <a:xfrm>
            <a:off x="589161" y="1422400"/>
            <a:ext cx="10896824" cy="42443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automates customer support using Machine Learning and NLP for accurate intent and category classification.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queries are first preprocessed using NLP techniques such as text cleaning, tokenization, stopword removal, and lemmatization.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MiniLM transformer embeddings are used to extract rich semantic features from text.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including DTC, KNN, and Naïve Bayes, along with DNN-based feature refinement, are applied for classification.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multi-output classification approach predicts both Intent and Category, with SMOTE used to handle class imbalance.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is integrated into a real-time chatbot for automated and instant customer responses.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425825" y="458470"/>
            <a:ext cx="5339715" cy="1085215"/>
            <a:chOff x="0" y="0"/>
            <a:chExt cx="2109623" cy="455698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109623" cy="455698"/>
            </a:xfrm>
            <a:custGeom>
              <a:avLst/>
              <a:gdLst/>
              <a:ahLst/>
              <a:cxnLst/>
              <a:rect l="l" t="t" r="r" b="b"/>
              <a:pathLst>
                <a:path w="2109623" h="455698">
                  <a:moveTo>
                    <a:pt x="0" y="0"/>
                  </a:moveTo>
                  <a:lnTo>
                    <a:pt x="2109623" y="0"/>
                  </a:lnTo>
                  <a:lnTo>
                    <a:pt x="2109623" y="455698"/>
                  </a:lnTo>
                  <a:lnTo>
                    <a:pt x="0" y="455698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09623" cy="49379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626485" y="523875"/>
            <a:ext cx="4902200" cy="101917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405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 Bold" panose="02030802070405020303"/>
              </a:rPr>
              <a:t>PROPOSED SYSTEM  ADVANTAGES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685800" y="1822247"/>
            <a:ext cx="10820400" cy="4351101"/>
            <a:chOff x="0" y="0"/>
            <a:chExt cx="4274726" cy="1718953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718953"/>
            </a:xfrm>
            <a:custGeom>
              <a:avLst/>
              <a:gdLst/>
              <a:ahLst/>
              <a:cxnLst/>
              <a:rect l="l" t="t" r="r" b="b"/>
              <a:pathLst>
                <a:path w="4274726" h="1718953">
                  <a:moveTo>
                    <a:pt x="0" y="0"/>
                  </a:moveTo>
                  <a:lnTo>
                    <a:pt x="4274726" y="0"/>
                  </a:lnTo>
                  <a:lnTo>
                    <a:pt x="4274726" y="1718953"/>
                  </a:lnTo>
                  <a:lnTo>
                    <a:pt x="0" y="171895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757053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067966" y="1958852"/>
            <a:ext cx="10019237" cy="3981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Accuracy: Advanced embeddings and DNN-assisted learning improve intent prediction accuracy.</a:t>
            </a:r>
          </a:p>
          <a:p>
            <a:pPr marL="285750" indent="-285750" algn="just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Efficiently handles large volumes of customer queries without manual intervention.</a:t>
            </a:r>
          </a:p>
          <a:p>
            <a:pPr marL="285750" indent="-285750" algn="just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Operational Cost: Minimizes dependency on human agents through automation.</a:t>
            </a:r>
          </a:p>
          <a:p>
            <a:pPr algn="just" rtl="0">
              <a:lnSpc>
                <a:spcPct val="20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49517" y="4355463"/>
            <a:ext cx="1299583" cy="1299583"/>
          </a:xfrm>
          <a:custGeom>
            <a:avLst/>
            <a:gdLst/>
            <a:ahLst/>
            <a:cxnLst/>
            <a:rect l="l" t="t" r="r" b="b"/>
            <a:pathLst>
              <a:path w="1949375" h="1949375">
                <a:moveTo>
                  <a:pt x="0" y="0"/>
                </a:moveTo>
                <a:lnTo>
                  <a:pt x="1949375" y="0"/>
                </a:lnTo>
                <a:lnTo>
                  <a:pt x="1949375" y="1949375"/>
                </a:lnTo>
                <a:lnTo>
                  <a:pt x="0" y="1949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3147695" y="344170"/>
            <a:ext cx="5780405" cy="1268095"/>
            <a:chOff x="0" y="0"/>
            <a:chExt cx="2109623" cy="455698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109623" cy="455698"/>
            </a:xfrm>
            <a:custGeom>
              <a:avLst/>
              <a:gdLst/>
              <a:ahLst/>
              <a:cxnLst/>
              <a:rect l="l" t="t" r="r" b="b"/>
              <a:pathLst>
                <a:path w="2109623" h="455698">
                  <a:moveTo>
                    <a:pt x="0" y="0"/>
                  </a:moveTo>
                  <a:lnTo>
                    <a:pt x="2109623" y="0"/>
                  </a:lnTo>
                  <a:lnTo>
                    <a:pt x="2109623" y="455698"/>
                  </a:lnTo>
                  <a:lnTo>
                    <a:pt x="0" y="455698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09623" cy="49379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425825" y="452755"/>
            <a:ext cx="5398770" cy="1078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5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 Bold" panose="02030802070405020303"/>
                <a:sym typeface="+mn-ea"/>
              </a:rPr>
              <a:t>HARDWARE</a:t>
            </a:r>
            <a:r>
              <a:rPr lang="en-US" sz="3200" b="1" dirty="0">
                <a:solidFill>
                  <a:srgbClr val="000000"/>
                </a:solidFill>
                <a:latin typeface="Times New Roman Bold" panose="02030802070405020303"/>
              </a:rPr>
              <a:t> &amp; </a:t>
            </a:r>
            <a:r>
              <a:rPr lang="en-US" sz="3200" b="1" dirty="0">
                <a:solidFill>
                  <a:srgbClr val="000000"/>
                </a:solidFill>
                <a:latin typeface="Times New Roman Bold" panose="02030802070405020303"/>
                <a:sym typeface="+mn-ea"/>
              </a:rPr>
              <a:t>SOFTWARE</a:t>
            </a:r>
          </a:p>
          <a:p>
            <a:pPr algn="ctr">
              <a:lnSpc>
                <a:spcPts val="4205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 Bold" panose="02030802070405020303"/>
              </a:rPr>
              <a:t>  REQUIREMENTS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28700" y="1883868"/>
            <a:ext cx="10820400" cy="4351101"/>
            <a:chOff x="0" y="0"/>
            <a:chExt cx="4274726" cy="1718953"/>
          </a:xfrm>
          <a:solidFill>
            <a:schemeClr val="bg1"/>
          </a:solidFill>
        </p:grpSpPr>
        <p:sp>
          <p:nvSpPr>
            <p:cNvPr id="4" name="Freeform 3"/>
            <p:cNvSpPr/>
            <p:nvPr/>
          </p:nvSpPr>
          <p:spPr>
            <a:xfrm>
              <a:off x="0" y="0"/>
              <a:ext cx="4274726" cy="1718953"/>
            </a:xfrm>
            <a:custGeom>
              <a:avLst/>
              <a:gdLst/>
              <a:ahLst/>
              <a:cxnLst/>
              <a:rect l="l" t="t" r="r" b="b"/>
              <a:pathLst>
                <a:path w="4274726" h="1718953">
                  <a:moveTo>
                    <a:pt x="0" y="0"/>
                  </a:moveTo>
                  <a:lnTo>
                    <a:pt x="4274726" y="0"/>
                  </a:lnTo>
                  <a:lnTo>
                    <a:pt x="4274726" y="1718953"/>
                  </a:lnTo>
                  <a:lnTo>
                    <a:pt x="0" y="171895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-38100"/>
              <a:ext cx="4274726" cy="1757053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9" name="TextBox 12"/>
          <p:cNvSpPr txBox="1"/>
          <p:nvPr/>
        </p:nvSpPr>
        <p:spPr>
          <a:xfrm>
            <a:off x="1259205" y="2124075"/>
            <a:ext cx="10168255" cy="411988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000" b="1" spc="-2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</a:t>
            </a:r>
            <a:r>
              <a:rPr sz="2000" b="1" spc="-7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000" b="1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REQUIRMENTS</a:t>
            </a:r>
            <a:r>
              <a:rPr sz="2000" b="1" spc="-7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000" b="1" spc="-5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745"/>
              </a:spcBef>
              <a:tabLst>
                <a:tab pos="295910" algn="l"/>
              </a:tabLst>
            </a:pPr>
            <a:r>
              <a:rPr lang="en-US"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Python                   : 3.12.0</a:t>
            </a:r>
          </a:p>
          <a:p>
            <a:pPr>
              <a:lnSpc>
                <a:spcPct val="100000"/>
              </a:lnSpc>
              <a:spcBef>
                <a:spcPts val="1745"/>
              </a:spcBef>
              <a:tabLst>
                <a:tab pos="295910" algn="l"/>
              </a:tabLst>
            </a:pPr>
            <a:r>
              <a:rPr lang="en-US"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OPerating System : Windows</a:t>
            </a:r>
            <a:r>
              <a:rPr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</a:p>
          <a:p>
            <a:pPr>
              <a:lnSpc>
                <a:spcPct val="100000"/>
              </a:lnSpc>
              <a:spcBef>
                <a:spcPts val="1745"/>
              </a:spcBef>
              <a:tabLst>
                <a:tab pos="295910" algn="l"/>
              </a:tabLst>
            </a:pPr>
            <a:r>
              <a:rPr lang="en-US" sz="2000" spc="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Backend                :Flask Web Application</a:t>
            </a:r>
            <a:endParaRPr lang="en-US" sz="2000" spc="10" dirty="0">
              <a:solidFill>
                <a:srgbClr val="3F3F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745"/>
              </a:spcBef>
              <a:tabLst>
                <a:tab pos="295910" algn="l"/>
              </a:tabLst>
            </a:pPr>
            <a:r>
              <a:rPr sz="2000" dirty="0">
                <a:solidFill>
                  <a:srgbClr val="3F3F3F"/>
                </a:solidFill>
                <a:latin typeface="Calibri" panose="020F0502020204030204"/>
                <a:cs typeface="Calibri" panose="020F0502020204030204"/>
                <a:sym typeface="+mn-ea"/>
              </a:rPr>
              <a:t>	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indent="0" algn="just">
              <a:buFont typeface="Wingdings" panose="05000000000000000000" pitchFamily="2" charset="2"/>
              <a:buNone/>
            </a:pP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6625759" y="2438947"/>
            <a:ext cx="4239293" cy="62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 algn="just">
              <a:lnSpc>
                <a:spcPts val="2425"/>
              </a:lnSpc>
              <a:buFont typeface="Wingdings" panose="05000000000000000000" pitchFamily="2" charset="2"/>
              <a:buNone/>
            </a:pPr>
            <a:endParaRPr sz="2000" dirty="0"/>
          </a:p>
          <a:p>
            <a:pPr algn="just">
              <a:lnSpc>
                <a:spcPts val="2425"/>
              </a:lnSpc>
            </a:pPr>
            <a:endParaRPr sz="2000" dirty="0"/>
          </a:p>
        </p:txBody>
      </p:sp>
      <p:sp>
        <p:nvSpPr>
          <p:cNvPr id="11" name="Text Box 10"/>
          <p:cNvSpPr txBox="1"/>
          <p:nvPr/>
        </p:nvSpPr>
        <p:spPr>
          <a:xfrm>
            <a:off x="6732905" y="2113915"/>
            <a:ext cx="4371975" cy="1205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spcBef>
                <a:spcPts val="1745"/>
              </a:spcBef>
              <a:tabLst>
                <a:tab pos="295910" algn="l"/>
              </a:tabLst>
            </a:pPr>
            <a:r>
              <a:rPr sz="2000" b="1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HARDWARE</a:t>
            </a:r>
            <a:r>
              <a:rPr sz="2000" b="1" spc="-7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000" b="1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REQUIRMENTS</a:t>
            </a:r>
            <a:r>
              <a:rPr sz="2000" b="1" spc="-8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000" b="1" spc="-5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705"/>
              </a:spcBef>
              <a:tabLst>
                <a:tab pos="295910" algn="l"/>
                <a:tab pos="1520190" algn="l"/>
                <a:tab pos="1899920" algn="l"/>
              </a:tabLst>
            </a:pPr>
            <a:r>
              <a:rPr sz="2000" spc="-1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Processor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sz="2000" spc="-5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en-US" sz="2000" spc="-5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Intel i5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685"/>
              </a:spcBef>
              <a:tabLst>
                <a:tab pos="295910" algn="l"/>
                <a:tab pos="1520190" algn="l"/>
                <a:tab pos="1899920" algn="l"/>
              </a:tabLst>
            </a:pPr>
            <a:r>
              <a:rPr lang="en-US"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Memory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sz="2000" spc="-5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en-US" sz="2000" spc="-5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1 T</a:t>
            </a:r>
            <a:r>
              <a:rPr lang="en-GB" sz="2000" spc="-50" dirty="0">
                <a:solidFill>
                  <a:srgbClr val="3F3F3F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en-GB" sz="2000" spc="-50" dirty="0">
                <a:solidFill>
                  <a:srgbClr val="3F3F3F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  <a:sym typeface="+mn-ea"/>
              </a:rPr>
              <a:t> (storage)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endParaRPr lang="en-US" sz="2000" dirty="0">
              <a:solidFill>
                <a:srgbClr val="3F3F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685"/>
              </a:spcBef>
              <a:tabLst>
                <a:tab pos="295910" algn="l"/>
                <a:tab pos="1520190" algn="l"/>
                <a:tab pos="1899920" algn="l"/>
              </a:tabLst>
            </a:pPr>
            <a:r>
              <a:rPr sz="2000" spc="-2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RAM</a:t>
            </a:r>
            <a:r>
              <a:rPr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sz="2000" spc="-5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en-US" sz="2000" spc="-5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8 GB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43255" y="1542012"/>
            <a:ext cx="10758753" cy="5115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introduces a hybrid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MiniLM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–DNN–KNN model that combines transformer-based embeddings, deep learning feature refinement, and distance-based classification for improved intent detection.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multi-intent and category prediction, enabling better contextual understanding compared to traditional single-intent systems.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DNN-based feature selection approach is used to reduce noise and dimensionality without increasing model complexity.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SMOTE effectively handles class imbalance, improving performance for minority intent classes.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integrated into a real-time chatbot system, making it scalable, efficient, and practical for modern customer support applications.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042285" y="466725"/>
            <a:ext cx="6376670" cy="836930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4" name="Freeform 6"/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3443605" y="586105"/>
            <a:ext cx="6323965" cy="717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425825" y="360045"/>
            <a:ext cx="5339715" cy="746760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5"/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Text Box 7"/>
          <p:cNvSpPr txBox="1"/>
          <p:nvPr/>
        </p:nvSpPr>
        <p:spPr>
          <a:xfrm>
            <a:off x="3425825" y="474980"/>
            <a:ext cx="5459730" cy="775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  <a:sym typeface="+mn-ea"/>
              </a:rPr>
              <a:t>SYSTEM ARCHITECTURE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295" y="1355725"/>
            <a:ext cx="6365240" cy="48710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30220" y="1992085"/>
            <a:ext cx="833223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Feature Extraction Module: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input text into numerical feature vectors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MiniLM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semantic and contextual meaning of customer queries.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rich feature base for accurate intent classification.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Feature Selection and Classification Module: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 (DNN) selects the most relevant features from embeddings.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(KNN) algorithm classifies the intent based on selected features.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the system’s prediction accuracy and efficiency.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8170" y="647065"/>
            <a:ext cx="3378200" cy="412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645535" y="647700"/>
            <a:ext cx="4478020" cy="709295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9" name="Freeform 6"/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5"/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>
                <a:highlight>
                  <a:srgbClr val="C0C0C0"/>
                </a:highlight>
              </a:endParaRPr>
            </a:p>
          </p:txBody>
        </p:sp>
      </p:grpSp>
      <p:sp>
        <p:nvSpPr>
          <p:cNvPr id="12" name="Text Box 11"/>
          <p:cNvSpPr txBox="1"/>
          <p:nvPr/>
        </p:nvSpPr>
        <p:spPr>
          <a:xfrm>
            <a:off x="4572000" y="647065"/>
            <a:ext cx="6096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35188" y="1864632"/>
            <a:ext cx="930262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Flask Application Module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backend framework connecting all components.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communication between the model and the chatbot interface.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data flow and real-time response generation.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Chatbot Module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the user interaction interface for query input and response display.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classified intents and categories to respond intelligently.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automated and AI-driven customer support.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Exploratory Data Analysis (EDA)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and visualizes the customer support dataset before training.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patterns, correlations, and data distribution.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high-quality and balanced data for feature extraction.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645535" y="647700"/>
            <a:ext cx="4478020" cy="709295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4" name="Freeform 6"/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644390" y="647700"/>
            <a:ext cx="4303395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645535" y="647700"/>
            <a:ext cx="4528185" cy="775335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4" name="Freeform 6"/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3829050" y="732155"/>
            <a:ext cx="4344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4F3967-6244-88ED-DE1B-0C26BA1BE8C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6110" y="1911213"/>
            <a:ext cx="9899779" cy="4395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531870" y="469900"/>
            <a:ext cx="4908550" cy="775335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4" name="Freeform 6"/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lang="en-US" sz="1200"/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4041775" y="469900"/>
            <a:ext cx="4227195" cy="813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660BF3-06FE-773A-F90C-DA4DA4297A8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1054" y="1670181"/>
            <a:ext cx="10151705" cy="4450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263265" y="647700"/>
            <a:ext cx="4900295" cy="775335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4" name="Freeform 6"/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3425825" y="647065"/>
            <a:ext cx="4872355" cy="755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6DAC29-19BD-C4C0-2034-171A8D45FAA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7408" y="1708595"/>
            <a:ext cx="9657183" cy="4598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751580" y="235961"/>
            <a:ext cx="4688840" cy="775335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4" name="Freeform 6"/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3810000" y="235961"/>
            <a:ext cx="4775835" cy="933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CAC56C-4E60-D155-0FC1-1FD492B57B4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0245" y="1250950"/>
            <a:ext cx="5731510" cy="5243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7AD6B4-24A2-4F06-8253-C4A83D9C1A21}"/>
              </a:ext>
            </a:extLst>
          </p:cNvPr>
          <p:cNvSpPr txBox="1"/>
          <p:nvPr/>
        </p:nvSpPr>
        <p:spPr>
          <a:xfrm>
            <a:off x="1502720" y="1349867"/>
            <a:ext cx="7956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1. Flask Application Initialization &amp; Setup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75186-BB92-4A8D-A3F5-68BB02302D59}"/>
              </a:ext>
            </a:extLst>
          </p:cNvPr>
          <p:cNvSpPr txBox="1"/>
          <p:nvPr/>
        </p:nvSpPr>
        <p:spPr>
          <a:xfrm>
            <a:off x="1502720" y="1955232"/>
            <a:ext cx="752374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app = Flask(__name__)</a:t>
            </a:r>
          </a:p>
          <a:p>
            <a:r>
              <a:rPr lang="en-IN" sz="1600" dirty="0" err="1"/>
              <a:t>app.secret_key</a:t>
            </a:r>
            <a:r>
              <a:rPr lang="en-IN" sz="1600" dirty="0"/>
              <a:t> = </a:t>
            </a:r>
            <a:r>
              <a:rPr lang="en-IN" sz="1600" dirty="0" err="1"/>
              <a:t>os.environ.get</a:t>
            </a:r>
            <a:r>
              <a:rPr lang="en-IN" sz="1600" dirty="0"/>
              <a:t>("SESSION_SECRET", "dev-secret-key")</a:t>
            </a:r>
          </a:p>
          <a:p>
            <a:r>
              <a:rPr lang="en-IN" sz="1600" dirty="0"/>
              <a:t>CORS(app)</a:t>
            </a:r>
          </a:p>
          <a:p>
            <a:endParaRPr lang="en-IN" sz="1600" dirty="0"/>
          </a:p>
          <a:p>
            <a:r>
              <a:rPr lang="en-IN" sz="1600" dirty="0"/>
              <a:t># Initialize AI services</a:t>
            </a:r>
          </a:p>
          <a:p>
            <a:r>
              <a:rPr lang="en-IN" sz="1600" dirty="0" err="1"/>
              <a:t>ai_service</a:t>
            </a:r>
            <a:r>
              <a:rPr lang="en-IN" sz="1600" dirty="0"/>
              <a:t> = </a:t>
            </a:r>
            <a:r>
              <a:rPr lang="en-IN" sz="1600" dirty="0" err="1"/>
              <a:t>AIService</a:t>
            </a:r>
            <a:r>
              <a:rPr lang="en-IN" sz="1600" dirty="0"/>
              <a:t>()</a:t>
            </a:r>
          </a:p>
          <a:p>
            <a:r>
              <a:rPr lang="en-IN" sz="1600" dirty="0" err="1"/>
              <a:t>intent_classifier</a:t>
            </a:r>
            <a:r>
              <a:rPr lang="en-IN" sz="1600" dirty="0"/>
              <a:t> = </a:t>
            </a:r>
            <a:r>
              <a:rPr lang="en-IN" sz="1600" dirty="0" err="1"/>
              <a:t>IntentClassifier</a:t>
            </a:r>
            <a:r>
              <a:rPr lang="en-IN" sz="1600" dirty="0"/>
              <a:t>()</a:t>
            </a:r>
          </a:p>
          <a:p>
            <a:endParaRPr lang="en-IN" sz="1600" dirty="0"/>
          </a:p>
          <a:p>
            <a:r>
              <a:rPr lang="en-IN" sz="1600" dirty="0"/>
              <a:t># Initialize classifier</a:t>
            </a:r>
          </a:p>
          <a:p>
            <a:r>
              <a:rPr lang="en-IN" sz="1600" dirty="0"/>
              <a:t>classifier = </a:t>
            </a:r>
            <a:r>
              <a:rPr lang="en-IN" sz="1600" dirty="0" err="1"/>
              <a:t>CustomerServiceClassifier</a:t>
            </a:r>
            <a:r>
              <a:rPr lang="en-IN" sz="1600" dirty="0"/>
              <a:t>(</a:t>
            </a:r>
            <a:r>
              <a:rPr lang="en-IN" sz="1600" dirty="0" err="1"/>
              <a:t>model_dir</a:t>
            </a:r>
            <a:r>
              <a:rPr lang="en-IN" sz="1600" dirty="0"/>
              <a:t>="model")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8CF6FF-BF06-E6A1-1DF1-2FBE00FB6843}"/>
              </a:ext>
            </a:extLst>
          </p:cNvPr>
          <p:cNvGrpSpPr/>
          <p:nvPr/>
        </p:nvGrpSpPr>
        <p:grpSpPr>
          <a:xfrm>
            <a:off x="4284880" y="382554"/>
            <a:ext cx="2845837" cy="584776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5B29770-C6D6-47A0-9AA8-0D27E72832FF}"/>
                </a:ext>
              </a:extLst>
            </p:cNvPr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AC2117-5817-B4A8-3402-EF4BA5A63509}"/>
                </a:ext>
              </a:extLst>
            </p:cNvPr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7752E4C-C8F9-9B50-5F66-C524CC63B44E}"/>
              </a:ext>
            </a:extLst>
          </p:cNvPr>
          <p:cNvSpPr txBox="1"/>
          <p:nvPr/>
        </p:nvSpPr>
        <p:spPr>
          <a:xfrm>
            <a:off x="4284880" y="376955"/>
            <a:ext cx="34150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</p:txBody>
      </p:sp>
    </p:spTree>
    <p:extLst>
      <p:ext uri="{BB962C8B-B14F-4D97-AF65-F5344CB8AC3E}">
        <p14:creationId xmlns:p14="http://schemas.microsoft.com/office/powerpoint/2010/main" val="1609208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1FAC25-ACC4-4E88-9F87-BE02F85CDB43}"/>
              </a:ext>
            </a:extLst>
          </p:cNvPr>
          <p:cNvSpPr txBox="1"/>
          <p:nvPr/>
        </p:nvSpPr>
        <p:spPr>
          <a:xfrm>
            <a:off x="1543480" y="1418574"/>
            <a:ext cx="6751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2. Exploratory Data Analysis (EDA) Processing</a:t>
            </a:r>
            <a:endParaRPr lang="en-IN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61A99-0F63-40F2-AE3C-A952EC428ABD}"/>
              </a:ext>
            </a:extLst>
          </p:cNvPr>
          <p:cNvSpPr txBox="1"/>
          <p:nvPr/>
        </p:nvSpPr>
        <p:spPr>
          <a:xfrm>
            <a:off x="1495434" y="2023106"/>
            <a:ext cx="89014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@app.route('/api/eda', methods=['GET'])</a:t>
            </a:r>
          </a:p>
          <a:p>
            <a:r>
              <a:rPr lang="en-IN" dirty="0"/>
              <a:t>def </a:t>
            </a:r>
            <a:r>
              <a:rPr lang="en-IN" dirty="0" err="1"/>
              <a:t>run_eda</a:t>
            </a:r>
            <a:r>
              <a:rPr lang="en-IN" dirty="0"/>
              <a:t>():</a:t>
            </a:r>
          </a:p>
          <a:p>
            <a:r>
              <a:rPr lang="en-IN" dirty="0"/>
              <a:t>    </a:t>
            </a:r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classifier.upload_dataset</a:t>
            </a:r>
            <a:r>
              <a:rPr lang="en-IN" dirty="0"/>
              <a:t>(</a:t>
            </a:r>
            <a:r>
              <a:rPr lang="en-IN" dirty="0" err="1"/>
              <a:t>train_path</a:t>
            </a:r>
            <a:r>
              <a:rPr lang="en-IN" dirty="0"/>
              <a:t>)</a:t>
            </a:r>
          </a:p>
          <a:p>
            <a:r>
              <a:rPr lang="en-IN" dirty="0"/>
              <a:t>    X, </a:t>
            </a:r>
            <a:r>
              <a:rPr lang="en-IN" dirty="0" err="1"/>
              <a:t>Y_dict</a:t>
            </a:r>
            <a:r>
              <a:rPr lang="en-IN" dirty="0"/>
              <a:t> = </a:t>
            </a:r>
            <a:r>
              <a:rPr lang="en-IN" dirty="0" err="1"/>
              <a:t>classifier.preprocess_data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, </a:t>
            </a:r>
            <a:r>
              <a:rPr lang="en-IN" dirty="0" err="1"/>
              <a:t>target_cols</a:t>
            </a:r>
            <a:r>
              <a:rPr lang="en-IN" dirty="0"/>
              <a:t>=["intent", "category"])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eda_plot_dir</a:t>
            </a:r>
            <a:r>
              <a:rPr lang="en-IN" dirty="0"/>
              <a:t> = </a:t>
            </a:r>
            <a:r>
              <a:rPr lang="en-IN" dirty="0" err="1"/>
              <a:t>os.path.join</a:t>
            </a:r>
            <a:r>
              <a:rPr lang="en-IN" dirty="0"/>
              <a:t>(</a:t>
            </a:r>
            <a:r>
              <a:rPr lang="en-IN" dirty="0" err="1"/>
              <a:t>app.static_folder</a:t>
            </a:r>
            <a:r>
              <a:rPr lang="en-IN" dirty="0"/>
              <a:t>, '</a:t>
            </a:r>
            <a:r>
              <a:rPr lang="en-IN" dirty="0" err="1"/>
              <a:t>eda_plots</a:t>
            </a:r>
            <a:r>
              <a:rPr lang="en-IN" dirty="0"/>
              <a:t>')</a:t>
            </a:r>
          </a:p>
          <a:p>
            <a:r>
              <a:rPr lang="en-IN" dirty="0"/>
              <a:t>    </a:t>
            </a:r>
            <a:r>
              <a:rPr lang="en-IN" dirty="0" err="1"/>
              <a:t>os.makedirs</a:t>
            </a:r>
            <a:r>
              <a:rPr lang="en-IN" dirty="0"/>
              <a:t>(</a:t>
            </a:r>
            <a:r>
              <a:rPr lang="en-IN" dirty="0" err="1"/>
              <a:t>eda_plot_dir</a:t>
            </a:r>
            <a:r>
              <a:rPr lang="en-IN" dirty="0"/>
              <a:t>, </a:t>
            </a:r>
            <a:r>
              <a:rPr lang="en-IN" dirty="0" err="1"/>
              <a:t>exist_ok</a:t>
            </a:r>
            <a:r>
              <a:rPr lang="en-IN" dirty="0"/>
              <a:t>=True)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classifier.eda_nlp_analysis</a:t>
            </a:r>
            <a:r>
              <a:rPr lang="en-IN" dirty="0"/>
              <a:t>(X, </a:t>
            </a:r>
            <a:r>
              <a:rPr lang="en-IN" dirty="0" err="1"/>
              <a:t>num_words</a:t>
            </a:r>
            <a:r>
              <a:rPr lang="en-IN" dirty="0"/>
              <a:t>=100, </a:t>
            </a:r>
            <a:r>
              <a:rPr lang="en-IN" dirty="0" err="1"/>
              <a:t>top_n_words</a:t>
            </a:r>
            <a:r>
              <a:rPr lang="en-IN" dirty="0"/>
              <a:t>=20)</a:t>
            </a:r>
          </a:p>
          <a:p>
            <a:r>
              <a:rPr lang="en-IN" dirty="0"/>
              <a:t>    </a:t>
            </a:r>
            <a:r>
              <a:rPr lang="en-IN" dirty="0" err="1"/>
              <a:t>classifier.plot_target_distributions</a:t>
            </a:r>
            <a:r>
              <a:rPr lang="en-IN" dirty="0"/>
              <a:t>(</a:t>
            </a:r>
            <a:r>
              <a:rPr lang="en-IN" dirty="0" err="1"/>
              <a:t>Y_dict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    return </a:t>
            </a:r>
            <a:r>
              <a:rPr lang="en-IN" dirty="0" err="1"/>
              <a:t>jsonify</a:t>
            </a:r>
            <a:r>
              <a:rPr lang="en-IN" dirty="0"/>
              <a:t>({'</a:t>
            </a:r>
            <a:r>
              <a:rPr lang="en-IN" dirty="0" err="1"/>
              <a:t>plots_generated</a:t>
            </a:r>
            <a:r>
              <a:rPr lang="en-IN" dirty="0"/>
              <a:t>': True})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431B56B-2B1E-D087-E679-F16D2FF6AF1C}"/>
              </a:ext>
            </a:extLst>
          </p:cNvPr>
          <p:cNvGrpSpPr/>
          <p:nvPr/>
        </p:nvGrpSpPr>
        <p:grpSpPr>
          <a:xfrm>
            <a:off x="4284880" y="382554"/>
            <a:ext cx="2845837" cy="584776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D11FF2C-A317-F626-F4A2-6BEA1C29BF7E}"/>
                </a:ext>
              </a:extLst>
            </p:cNvPr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B98248-FAB3-9FEC-0AA9-50881CD5CCEF}"/>
                </a:ext>
              </a:extLst>
            </p:cNvPr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EA8393F-8B0A-94D5-01E0-1BCD1C16EE2E}"/>
              </a:ext>
            </a:extLst>
          </p:cNvPr>
          <p:cNvSpPr txBox="1"/>
          <p:nvPr/>
        </p:nvSpPr>
        <p:spPr>
          <a:xfrm>
            <a:off x="4299284" y="376955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</p:txBody>
      </p:sp>
    </p:spTree>
    <p:extLst>
      <p:ext uri="{BB962C8B-B14F-4D97-AF65-F5344CB8AC3E}">
        <p14:creationId xmlns:p14="http://schemas.microsoft.com/office/powerpoint/2010/main" val="3036758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937DD9-A251-49A0-ACC7-BA19E9EDC7C9}"/>
              </a:ext>
            </a:extLst>
          </p:cNvPr>
          <p:cNvSpPr txBox="1"/>
          <p:nvPr/>
        </p:nvSpPr>
        <p:spPr>
          <a:xfrm>
            <a:off x="1522035" y="1433341"/>
            <a:ext cx="4443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3. Model Training &amp; Prediction System</a:t>
            </a:r>
            <a:endParaRPr lang="en-IN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30EBC0-648B-4C90-9C1C-3757C6F8AAF7}"/>
              </a:ext>
            </a:extLst>
          </p:cNvPr>
          <p:cNvSpPr txBox="1"/>
          <p:nvPr/>
        </p:nvSpPr>
        <p:spPr>
          <a:xfrm>
            <a:off x="1522035" y="1915068"/>
            <a:ext cx="102076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@app.route('/api/predict', methods=['GET'])</a:t>
            </a:r>
          </a:p>
          <a:p>
            <a:r>
              <a:rPr lang="en-IN" dirty="0"/>
              <a:t>def predict():</a:t>
            </a:r>
          </a:p>
          <a:p>
            <a:r>
              <a:rPr lang="en-IN" dirty="0"/>
              <a:t>    # Train model if not already trained</a:t>
            </a:r>
          </a:p>
          <a:p>
            <a:r>
              <a:rPr lang="en-IN" dirty="0"/>
              <a:t>    if not </a:t>
            </a:r>
            <a:r>
              <a:rPr lang="en-IN" dirty="0" err="1"/>
              <a:t>classifier.models</a:t>
            </a:r>
            <a:r>
              <a:rPr lang="en-IN" dirty="0"/>
              <a:t>:</a:t>
            </a:r>
          </a:p>
          <a:p>
            <a:r>
              <a:rPr lang="en-IN" dirty="0"/>
              <a:t>        </a:t>
            </a:r>
            <a:r>
              <a:rPr lang="en-IN" dirty="0" err="1"/>
              <a:t>classifier.fit</a:t>
            </a:r>
            <a:r>
              <a:rPr lang="en-IN" dirty="0"/>
              <a:t>(</a:t>
            </a:r>
            <a:r>
              <a:rPr lang="en-IN" dirty="0" err="1"/>
              <a:t>train_path</a:t>
            </a:r>
            <a:r>
              <a:rPr lang="en-IN" dirty="0"/>
              <a:t>, </a:t>
            </a:r>
            <a:r>
              <a:rPr lang="en-IN" dirty="0" err="1"/>
              <a:t>target_cols</a:t>
            </a:r>
            <a:r>
              <a:rPr lang="en-IN" dirty="0"/>
              <a:t>=["intent", "category"])</a:t>
            </a:r>
          </a:p>
          <a:p>
            <a:endParaRPr lang="en-IN" dirty="0"/>
          </a:p>
          <a:p>
            <a:r>
              <a:rPr lang="en-IN" dirty="0"/>
              <a:t>    # Generate predictions</a:t>
            </a:r>
          </a:p>
          <a:p>
            <a:r>
              <a:rPr lang="en-IN" dirty="0"/>
              <a:t>    </a:t>
            </a:r>
            <a:r>
              <a:rPr lang="en-IN" dirty="0" err="1"/>
              <a:t>predictions_df</a:t>
            </a:r>
            <a:r>
              <a:rPr lang="en-IN" dirty="0"/>
              <a:t> = </a:t>
            </a:r>
            <a:r>
              <a:rPr lang="en-IN" dirty="0" err="1"/>
              <a:t>classifier.predict</a:t>
            </a:r>
            <a:r>
              <a:rPr lang="en-IN" dirty="0"/>
              <a:t>(</a:t>
            </a:r>
            <a:r>
              <a:rPr lang="en-IN" dirty="0" err="1"/>
              <a:t>test_path</a:t>
            </a:r>
            <a:r>
              <a:rPr lang="en-IN" dirty="0"/>
              <a:t>, </a:t>
            </a:r>
            <a:r>
              <a:rPr lang="en-IN" dirty="0" err="1"/>
              <a:t>model_base_name</a:t>
            </a:r>
            <a:r>
              <a:rPr lang="en-IN" dirty="0"/>
              <a:t>="</a:t>
            </a:r>
            <a:r>
              <a:rPr lang="en-IN" dirty="0" err="1"/>
              <a:t>MiniLM</a:t>
            </a:r>
            <a:r>
              <a:rPr lang="en-IN" dirty="0"/>
              <a:t>-WE DNN")</a:t>
            </a:r>
          </a:p>
          <a:p>
            <a:endParaRPr lang="en-IN" dirty="0"/>
          </a:p>
          <a:p>
            <a:r>
              <a:rPr lang="en-IN" dirty="0"/>
              <a:t>    return </a:t>
            </a:r>
            <a:r>
              <a:rPr lang="en-IN" dirty="0" err="1"/>
              <a:t>jsonify</a:t>
            </a:r>
            <a:r>
              <a:rPr lang="en-IN" dirty="0"/>
              <a:t>({</a:t>
            </a:r>
          </a:p>
          <a:p>
            <a:r>
              <a:rPr lang="en-IN" dirty="0"/>
              <a:t>        'success': True,</a:t>
            </a:r>
          </a:p>
          <a:p>
            <a:r>
              <a:rPr lang="en-IN" dirty="0"/>
              <a:t>        'predictions': </a:t>
            </a:r>
            <a:r>
              <a:rPr lang="en-IN" dirty="0" err="1"/>
              <a:t>predictions_df.to_dict</a:t>
            </a:r>
            <a:r>
              <a:rPr lang="en-IN" dirty="0"/>
              <a:t>(orient='records'),</a:t>
            </a:r>
          </a:p>
          <a:p>
            <a:r>
              <a:rPr lang="en-IN" dirty="0"/>
              <a:t>        'columns': list(</a:t>
            </a:r>
            <a:r>
              <a:rPr lang="en-IN" dirty="0" err="1"/>
              <a:t>predictions_df.columns</a:t>
            </a:r>
            <a:r>
              <a:rPr lang="en-IN" dirty="0"/>
              <a:t>)</a:t>
            </a:r>
          </a:p>
          <a:p>
            <a:r>
              <a:rPr lang="en-IN" dirty="0"/>
              <a:t>    })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BE09D8-EDF7-A9DA-09BD-E92FEEE93234}"/>
              </a:ext>
            </a:extLst>
          </p:cNvPr>
          <p:cNvGrpSpPr/>
          <p:nvPr/>
        </p:nvGrpSpPr>
        <p:grpSpPr>
          <a:xfrm>
            <a:off x="4284880" y="382554"/>
            <a:ext cx="2845837" cy="584776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C49B00C-61F1-3B4A-8BDF-FFC5154189AA}"/>
                </a:ext>
              </a:extLst>
            </p:cNvPr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B6E524D-4432-EDF1-804F-AF11BC736A65}"/>
                </a:ext>
              </a:extLst>
            </p:cNvPr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6AD90E3-AFD4-3BDE-0DAE-A4EAF593E007}"/>
              </a:ext>
            </a:extLst>
          </p:cNvPr>
          <p:cNvSpPr txBox="1"/>
          <p:nvPr/>
        </p:nvSpPr>
        <p:spPr>
          <a:xfrm>
            <a:off x="4284880" y="376955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</p:txBody>
      </p:sp>
    </p:spTree>
    <p:extLst>
      <p:ext uri="{BB962C8B-B14F-4D97-AF65-F5344CB8AC3E}">
        <p14:creationId xmlns:p14="http://schemas.microsoft.com/office/powerpoint/2010/main" val="3104440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860070-8CC4-4161-8E5B-BB80B5E2A9D7}"/>
              </a:ext>
            </a:extLst>
          </p:cNvPr>
          <p:cNvSpPr txBox="1"/>
          <p:nvPr/>
        </p:nvSpPr>
        <p:spPr>
          <a:xfrm>
            <a:off x="1668379" y="1320151"/>
            <a:ext cx="4427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4. AI Chat System with Intent Detection</a:t>
            </a:r>
            <a:endParaRPr lang="en-IN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9EE12-4116-4B12-A3E5-037981A79797}"/>
              </a:ext>
            </a:extLst>
          </p:cNvPr>
          <p:cNvSpPr txBox="1"/>
          <p:nvPr/>
        </p:nvSpPr>
        <p:spPr>
          <a:xfrm>
            <a:off x="1668379" y="1777663"/>
            <a:ext cx="925089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@app.route('/api/chat', methods=['POST'])</a:t>
            </a:r>
          </a:p>
          <a:p>
            <a:r>
              <a:rPr lang="en-IN" sz="1600" dirty="0"/>
              <a:t>def chat():</a:t>
            </a:r>
          </a:p>
          <a:p>
            <a:r>
              <a:rPr lang="en-IN" sz="1600" dirty="0"/>
              <a:t>    data = </a:t>
            </a:r>
            <a:r>
              <a:rPr lang="en-IN" sz="1600" dirty="0" err="1"/>
              <a:t>request.get_json</a:t>
            </a:r>
            <a:r>
              <a:rPr lang="en-IN" sz="1600" dirty="0"/>
              <a:t>()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user_message</a:t>
            </a:r>
            <a:r>
              <a:rPr lang="en-IN" sz="1600" dirty="0"/>
              <a:t> = </a:t>
            </a:r>
            <a:r>
              <a:rPr lang="en-IN" sz="1600" dirty="0" err="1"/>
              <a:t>data.get</a:t>
            </a:r>
            <a:r>
              <a:rPr lang="en-IN" sz="1600" dirty="0"/>
              <a:t>('message', '').strip()</a:t>
            </a:r>
          </a:p>
          <a:p>
            <a:endParaRPr lang="en-IN" sz="1600" dirty="0"/>
          </a:p>
          <a:p>
            <a:r>
              <a:rPr lang="en-IN" sz="1600" dirty="0"/>
              <a:t>    </a:t>
            </a:r>
            <a:r>
              <a:rPr lang="en-IN" sz="1600" dirty="0" err="1"/>
              <a:t>detected_intents</a:t>
            </a:r>
            <a:r>
              <a:rPr lang="en-IN" sz="1600" dirty="0"/>
              <a:t> = </a:t>
            </a:r>
            <a:r>
              <a:rPr lang="en-IN" sz="1600" dirty="0" err="1"/>
              <a:t>intent_classifier.classify_intents</a:t>
            </a:r>
            <a:r>
              <a:rPr lang="en-IN" sz="1600" dirty="0"/>
              <a:t>(</a:t>
            </a:r>
            <a:r>
              <a:rPr lang="en-IN" sz="1600" dirty="0" err="1"/>
              <a:t>user_message</a:t>
            </a:r>
            <a:r>
              <a:rPr lang="en-IN" sz="1600" dirty="0"/>
              <a:t>)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ai_response</a:t>
            </a:r>
            <a:r>
              <a:rPr lang="en-IN" sz="1600" dirty="0"/>
              <a:t> = </a:t>
            </a:r>
            <a:r>
              <a:rPr lang="en-IN" sz="1600" dirty="0" err="1"/>
              <a:t>ai_service.generate_response</a:t>
            </a:r>
            <a:r>
              <a:rPr lang="en-IN" sz="1600" dirty="0"/>
              <a:t>(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user_message</a:t>
            </a:r>
            <a:r>
              <a:rPr lang="en-IN" sz="1600" dirty="0"/>
              <a:t>,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conversations.get</a:t>
            </a:r>
            <a:r>
              <a:rPr lang="en-IN" sz="1600" dirty="0"/>
              <a:t>(</a:t>
            </a:r>
            <a:r>
              <a:rPr lang="en-IN" sz="1600" dirty="0" err="1"/>
              <a:t>session.get</a:t>
            </a:r>
            <a:r>
              <a:rPr lang="en-IN" sz="1600" dirty="0"/>
              <a:t>('</a:t>
            </a:r>
            <a:r>
              <a:rPr lang="en-IN" sz="1600" dirty="0" err="1"/>
              <a:t>session_id</a:t>
            </a:r>
            <a:r>
              <a:rPr lang="en-IN" sz="1600" dirty="0"/>
              <a:t>'), []),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detected_intents</a:t>
            </a:r>
            <a:endParaRPr lang="en-IN" sz="1600" dirty="0"/>
          </a:p>
          <a:p>
            <a:r>
              <a:rPr lang="en-IN" sz="1600" dirty="0"/>
              <a:t>    )</a:t>
            </a:r>
          </a:p>
          <a:p>
            <a:endParaRPr lang="en-IN" sz="1600" dirty="0"/>
          </a:p>
          <a:p>
            <a:r>
              <a:rPr lang="en-IN" sz="1600" dirty="0"/>
              <a:t>    </a:t>
            </a:r>
            <a:r>
              <a:rPr lang="en-IN" sz="1600" dirty="0" err="1"/>
              <a:t>analytics_data</a:t>
            </a:r>
            <a:r>
              <a:rPr lang="en-IN" sz="1600" dirty="0"/>
              <a:t>['</a:t>
            </a:r>
            <a:r>
              <a:rPr lang="en-IN" sz="1600" dirty="0" err="1"/>
              <a:t>total_conversations</a:t>
            </a:r>
            <a:r>
              <a:rPr lang="en-IN" sz="1600" dirty="0"/>
              <a:t>'] += 1</a:t>
            </a:r>
          </a:p>
          <a:p>
            <a:endParaRPr lang="en-IN" sz="1600" dirty="0"/>
          </a:p>
          <a:p>
            <a:r>
              <a:rPr lang="en-IN" sz="1600" dirty="0"/>
              <a:t>    return </a:t>
            </a:r>
            <a:r>
              <a:rPr lang="en-IN" sz="1600" dirty="0" err="1"/>
              <a:t>jsonify</a:t>
            </a:r>
            <a:r>
              <a:rPr lang="en-IN" sz="1600" dirty="0"/>
              <a:t>({</a:t>
            </a:r>
          </a:p>
          <a:p>
            <a:r>
              <a:rPr lang="en-IN" sz="1600" dirty="0"/>
              <a:t>        'response': </a:t>
            </a:r>
            <a:r>
              <a:rPr lang="en-IN" sz="1600" dirty="0" err="1"/>
              <a:t>ai_response</a:t>
            </a:r>
            <a:r>
              <a:rPr lang="en-IN" sz="1600" dirty="0"/>
              <a:t>,</a:t>
            </a:r>
          </a:p>
          <a:p>
            <a:r>
              <a:rPr lang="en-IN" sz="1600" dirty="0"/>
              <a:t>        'intents': </a:t>
            </a:r>
            <a:r>
              <a:rPr lang="en-IN" sz="1600" dirty="0" err="1"/>
              <a:t>detected_intents</a:t>
            </a:r>
            <a:r>
              <a:rPr lang="en-IN" sz="1600" dirty="0"/>
              <a:t>,</a:t>
            </a:r>
          </a:p>
          <a:p>
            <a:r>
              <a:rPr lang="en-IN" sz="1600" dirty="0"/>
              <a:t>        'timestamp': </a:t>
            </a:r>
            <a:r>
              <a:rPr lang="en-IN" sz="1600" dirty="0" err="1"/>
              <a:t>datetime.now</a:t>
            </a:r>
            <a:r>
              <a:rPr lang="en-IN" sz="1600" dirty="0"/>
              <a:t>().</a:t>
            </a:r>
            <a:r>
              <a:rPr lang="en-IN" sz="1600" dirty="0" err="1"/>
              <a:t>isoformat</a:t>
            </a:r>
            <a:r>
              <a:rPr lang="en-IN" sz="1600" dirty="0"/>
              <a:t>()</a:t>
            </a:r>
          </a:p>
          <a:p>
            <a:r>
              <a:rPr lang="en-IN" sz="1600" dirty="0"/>
              <a:t>    })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9A33A2-2A33-848E-66A7-00E5B34658C3}"/>
              </a:ext>
            </a:extLst>
          </p:cNvPr>
          <p:cNvGrpSpPr/>
          <p:nvPr/>
        </p:nvGrpSpPr>
        <p:grpSpPr>
          <a:xfrm>
            <a:off x="4284880" y="382554"/>
            <a:ext cx="2845837" cy="584776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BDF533D-B244-E732-BF54-327ED6DC7E1D}"/>
                </a:ext>
              </a:extLst>
            </p:cNvPr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CB5B80-8D15-5829-16E5-3B2C29F6ADCD}"/>
                </a:ext>
              </a:extLst>
            </p:cNvPr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9D58830-C0B3-B493-1014-D42D09922771}"/>
              </a:ext>
            </a:extLst>
          </p:cNvPr>
          <p:cNvSpPr txBox="1"/>
          <p:nvPr/>
        </p:nvSpPr>
        <p:spPr>
          <a:xfrm>
            <a:off x="4356782" y="382554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</p:txBody>
      </p:sp>
    </p:spTree>
    <p:extLst>
      <p:ext uri="{BB962C8B-B14F-4D97-AF65-F5344CB8AC3E}">
        <p14:creationId xmlns:p14="http://schemas.microsoft.com/office/powerpoint/2010/main" val="253564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072EAF-3DAF-412E-A23E-E45329A62CB3}"/>
              </a:ext>
            </a:extLst>
          </p:cNvPr>
          <p:cNvPicPr/>
          <p:nvPr/>
        </p:nvPicPr>
        <p:blipFill>
          <a:blip r:embed="rId2" cstate="print"/>
          <a:srcRect r="9582"/>
          <a:stretch>
            <a:fillRect/>
          </a:stretch>
        </p:blipFill>
        <p:spPr bwMode="auto">
          <a:xfrm>
            <a:off x="1644315" y="2040747"/>
            <a:ext cx="8050191" cy="4251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DFCA0A3-701F-254B-EB6F-1214042615D0}"/>
              </a:ext>
            </a:extLst>
          </p:cNvPr>
          <p:cNvGrpSpPr/>
          <p:nvPr/>
        </p:nvGrpSpPr>
        <p:grpSpPr>
          <a:xfrm>
            <a:off x="4284880" y="382554"/>
            <a:ext cx="2845837" cy="584776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20A6DB2-520F-3AD4-7BC1-056B4907DEE4}"/>
                </a:ext>
              </a:extLst>
            </p:cNvPr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FDB16D-D7CF-900B-C827-6F82768461C8}"/>
                </a:ext>
              </a:extLst>
            </p:cNvPr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D040C5D-9AB8-F425-C61A-1529F7CD63EE}"/>
              </a:ext>
            </a:extLst>
          </p:cNvPr>
          <p:cNvSpPr txBox="1"/>
          <p:nvPr/>
        </p:nvSpPr>
        <p:spPr>
          <a:xfrm>
            <a:off x="4767943" y="346177"/>
            <a:ext cx="22300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DA57B6-7403-A19C-5043-C25AC40ACC91}"/>
              </a:ext>
            </a:extLst>
          </p:cNvPr>
          <p:cNvSpPr txBox="1"/>
          <p:nvPr/>
        </p:nvSpPr>
        <p:spPr>
          <a:xfrm>
            <a:off x="1565210" y="1319372"/>
            <a:ext cx="6571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Home page for Multi-Intent Annotations For Conversational AI</a:t>
            </a:r>
            <a:endParaRPr lang="en-IN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409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5B5BDA-D1CA-4240-B72A-E70A3972FCA9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3202" y="1809687"/>
            <a:ext cx="8039892" cy="4064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8499D0B-78F8-2118-1C8B-9542A9D11C47}"/>
              </a:ext>
            </a:extLst>
          </p:cNvPr>
          <p:cNvGrpSpPr/>
          <p:nvPr/>
        </p:nvGrpSpPr>
        <p:grpSpPr>
          <a:xfrm>
            <a:off x="4284880" y="382554"/>
            <a:ext cx="2845837" cy="584776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0738AA9-A204-44EC-69EA-49893B114AD5}"/>
                </a:ext>
              </a:extLst>
            </p:cNvPr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F1D2977-C1CD-BDD5-607D-C1512778194A}"/>
                </a:ext>
              </a:extLst>
            </p:cNvPr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E40EAB5-A4D6-5E19-72F9-F07B7B390043}"/>
              </a:ext>
            </a:extLst>
          </p:cNvPr>
          <p:cNvSpPr txBox="1"/>
          <p:nvPr/>
        </p:nvSpPr>
        <p:spPr>
          <a:xfrm>
            <a:off x="4767943" y="346177"/>
            <a:ext cx="22300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C960C1-C96C-48A4-5B5F-11AB1E7ABF39}"/>
              </a:ext>
            </a:extLst>
          </p:cNvPr>
          <p:cNvSpPr txBox="1"/>
          <p:nvPr/>
        </p:nvSpPr>
        <p:spPr>
          <a:xfrm>
            <a:off x="1593202" y="1292483"/>
            <a:ext cx="8039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Real-Time AI Support Dashboard for Conversation Monitoring and Analytics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4075868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2D92A3-B66E-4AC4-8322-0DFB504FEEA3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44088" y="1793415"/>
            <a:ext cx="7959749" cy="43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EF72C05-AE32-2932-60AD-3A82EF553E30}"/>
              </a:ext>
            </a:extLst>
          </p:cNvPr>
          <p:cNvGrpSpPr/>
          <p:nvPr/>
        </p:nvGrpSpPr>
        <p:grpSpPr>
          <a:xfrm>
            <a:off x="4284880" y="382554"/>
            <a:ext cx="2845837" cy="584776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EBED815-BE69-9816-1809-2BF90ABA18C3}"/>
                </a:ext>
              </a:extLst>
            </p:cNvPr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640763B-EB35-925F-9C7D-D9C271CAA86E}"/>
                </a:ext>
              </a:extLst>
            </p:cNvPr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A1EA203-9159-8CFF-6AEA-306E7F20AFB2}"/>
              </a:ext>
            </a:extLst>
          </p:cNvPr>
          <p:cNvSpPr txBox="1"/>
          <p:nvPr/>
        </p:nvSpPr>
        <p:spPr>
          <a:xfrm>
            <a:off x="4767943" y="346177"/>
            <a:ext cx="22300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FD4152-9478-42EA-4A42-F950D83124A8}"/>
              </a:ext>
            </a:extLst>
          </p:cNvPr>
          <p:cNvSpPr txBox="1"/>
          <p:nvPr/>
        </p:nvSpPr>
        <p:spPr>
          <a:xfrm>
            <a:off x="1611864" y="1147084"/>
            <a:ext cx="8633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Advanced Analytics Dashboard for AI Support System Performance Monitoring.</a:t>
            </a:r>
            <a:endParaRPr lang="en-IN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1614768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DDD55B-802A-4243-82A9-B1702EA7A1DE}"/>
              </a:ext>
            </a:extLst>
          </p:cNvPr>
          <p:cNvPicPr/>
          <p:nvPr/>
        </p:nvPicPr>
        <p:blipFill>
          <a:blip r:embed="rId2" cstate="print"/>
          <a:srcRect t="6067"/>
          <a:stretch>
            <a:fillRect/>
          </a:stretch>
        </p:blipFill>
        <p:spPr bwMode="auto">
          <a:xfrm>
            <a:off x="1700463" y="1838130"/>
            <a:ext cx="8236640" cy="4615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71CC9BC-06A4-CF91-19DF-CA415F16A0FA}"/>
              </a:ext>
            </a:extLst>
          </p:cNvPr>
          <p:cNvGrpSpPr/>
          <p:nvPr/>
        </p:nvGrpSpPr>
        <p:grpSpPr>
          <a:xfrm>
            <a:off x="4284880" y="382554"/>
            <a:ext cx="2845837" cy="584776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4F7BBCC-9D99-F0E3-0C62-9498376BB221}"/>
                </a:ext>
              </a:extLst>
            </p:cNvPr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664913C-1B18-5B4C-F8CB-762A2F48F2B5}"/>
                </a:ext>
              </a:extLst>
            </p:cNvPr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5FE4E33-8EC5-3AE3-AAD4-1959CD161EC4}"/>
              </a:ext>
            </a:extLst>
          </p:cNvPr>
          <p:cNvSpPr txBox="1"/>
          <p:nvPr/>
        </p:nvSpPr>
        <p:spPr>
          <a:xfrm>
            <a:off x="4767943" y="346177"/>
            <a:ext cx="22300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CC3C5-2D31-D35C-12D8-B1A2AA7A0785}"/>
              </a:ext>
            </a:extLst>
          </p:cNvPr>
          <p:cNvSpPr txBox="1"/>
          <p:nvPr/>
        </p:nvSpPr>
        <p:spPr>
          <a:xfrm>
            <a:off x="1700462" y="121806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Exploratory Data Analysis (EDA)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56634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063E80-2DA6-4E08-9FBE-33FFB28D7C1C}"/>
              </a:ext>
            </a:extLst>
          </p:cNvPr>
          <p:cNvSpPr txBox="1"/>
          <p:nvPr/>
        </p:nvSpPr>
        <p:spPr>
          <a:xfrm>
            <a:off x="1042735" y="1427748"/>
            <a:ext cx="2935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Future Enhancement </a:t>
            </a:r>
            <a:endParaRPr lang="en-IN" sz="20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E785A-B078-4E70-BCD2-8DF32BE299DC}"/>
              </a:ext>
            </a:extLst>
          </p:cNvPr>
          <p:cNvSpPr txBox="1"/>
          <p:nvPr/>
        </p:nvSpPr>
        <p:spPr>
          <a:xfrm>
            <a:off x="1876926" y="2021305"/>
            <a:ext cx="96733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system has significant potential for enhancement and expansion in multiple directions.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One major improvement would be the integration of </a:t>
            </a:r>
            <a:r>
              <a:rPr lang="en-IN" sz="1600" b="1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context-aware conversational AI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I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where the model not only detects intents but also maintains contextual understanding over long multi-turn conversations.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Another future direction is the incorporation of </a:t>
            </a:r>
            <a:r>
              <a:rPr lang="en-IN" sz="1600" b="1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advanced deep learning architectures</a:t>
            </a:r>
            <a:r>
              <a:rPr lang="en-I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such as transformers or attention-based networks, to handle more complex user queries with better accuracy and generalization. 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1BCBC-7A35-4766-B4BF-370C51613C75}"/>
              </a:ext>
            </a:extLst>
          </p:cNvPr>
          <p:cNvSpPr txBox="1"/>
          <p:nvPr/>
        </p:nvSpPr>
        <p:spPr>
          <a:xfrm>
            <a:off x="1844839" y="4744689"/>
            <a:ext cx="95450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development of the Customer Support Dataset with Multi-Intent Annotations system demonstrates the effectiveness of combining natural language processing, machine learning, and web-based frameworks for intelligent conversational AI.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integrating multiple classifiers — including Decision Tree, Naive Bayes, K-Nearest </a:t>
            </a:r>
            <a:r>
              <a:rPr lang="en-IN" sz="16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Neighbors</a:t>
            </a:r>
            <a:r>
              <a:rPr lang="en-I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the proposed hybrid </a:t>
            </a:r>
            <a:r>
              <a:rPr lang="en-IN" sz="16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MiniLM</a:t>
            </a:r>
            <a:r>
              <a:rPr lang="en-I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-WE DNN-KNN model — the system can accurately detect and respond to diverse customer intents. </a:t>
            </a: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A19FF-49E6-4DD2-910D-2FB6DA3F5D01}"/>
              </a:ext>
            </a:extLst>
          </p:cNvPr>
          <p:cNvSpPr txBox="1"/>
          <p:nvPr/>
        </p:nvSpPr>
        <p:spPr>
          <a:xfrm>
            <a:off x="1042735" y="4058799"/>
            <a:ext cx="2261939" cy="400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B55E6D-CB0B-911A-C946-391D3620E8D2}"/>
              </a:ext>
            </a:extLst>
          </p:cNvPr>
          <p:cNvGrpSpPr/>
          <p:nvPr/>
        </p:nvGrpSpPr>
        <p:grpSpPr>
          <a:xfrm>
            <a:off x="2715536" y="382554"/>
            <a:ext cx="7408178" cy="584776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C4931A7-BBE8-D1AF-8E26-003621632801}"/>
                </a:ext>
              </a:extLst>
            </p:cNvPr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46543DA-826A-719B-92DA-96785ADD06AD}"/>
                </a:ext>
              </a:extLst>
            </p:cNvPr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ACECE1C-E79E-840C-7A87-1D1F87797664}"/>
              </a:ext>
            </a:extLst>
          </p:cNvPr>
          <p:cNvSpPr txBox="1"/>
          <p:nvPr/>
        </p:nvSpPr>
        <p:spPr>
          <a:xfrm>
            <a:off x="2715536" y="388220"/>
            <a:ext cx="80429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12833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93A7C4-A8ED-4B20-8708-4F62FA642155}"/>
              </a:ext>
            </a:extLst>
          </p:cNvPr>
          <p:cNvSpPr txBox="1"/>
          <p:nvPr/>
        </p:nvSpPr>
        <p:spPr>
          <a:xfrm>
            <a:off x="1101013" y="1537459"/>
            <a:ext cx="10513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Huang Z, Liu H, Zhu J, Min J. Customer Sentiment Recognition in Conversation Based on Contextual Semantic and Affective Interaction Information. Applied Sciences. 2023; 13(13):7807. </a:t>
            </a:r>
            <a:r>
              <a:rPr lang="en-IN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https://doi.org/10.3390/app13137807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84A4D-DB19-44DB-B5FD-C9E4B0E6616A}"/>
              </a:ext>
            </a:extLst>
          </p:cNvPr>
          <p:cNvSpPr txBox="1"/>
          <p:nvPr/>
        </p:nvSpPr>
        <p:spPr>
          <a:xfrm>
            <a:off x="1101013" y="2460789"/>
            <a:ext cx="10513472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Wagner N, Kraus M,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Minker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Griol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Callejas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Z. A Survey on Multi-User Conversational Interfaces. Applied Sciences. 2025; 15(13):7267. </a:t>
            </a:r>
            <a:r>
              <a:rPr lang="en-IN" sz="18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https://doi.org/10.3390/app15137267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 C-C, Huang AYQ, Yang SJH. A Review of AI-Driven Conversational Chatbots Implementation Methodologies and Challenges (1999–2022). Sustainability. 2023; 15(5):4012. </a:t>
            </a:r>
            <a:r>
              <a:rPr lang="en-IN" sz="18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https://doi.org/10.3390/su15054012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Bercaru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Truică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C-O, Chiru C-G,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Rebedea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T. Improving Intent Classification Using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Unlabeled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Data from Large Corpora. Mathematics. 2023; 11(3):769. </a:t>
            </a:r>
            <a:r>
              <a:rPr lang="en-IN" sz="18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https://doi.org/10.3390/math11030769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71DD57D-0D47-5671-E9BF-B7E102E896E9}"/>
              </a:ext>
            </a:extLst>
          </p:cNvPr>
          <p:cNvGrpSpPr/>
          <p:nvPr/>
        </p:nvGrpSpPr>
        <p:grpSpPr>
          <a:xfrm>
            <a:off x="3928188" y="398685"/>
            <a:ext cx="3508310" cy="584776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36E4149-1466-A9F9-5A21-CF7EB840348D}"/>
                </a:ext>
              </a:extLst>
            </p:cNvPr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EA1950-35B3-20E4-DB7C-7072B5C870CA}"/>
                </a:ext>
              </a:extLst>
            </p:cNvPr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9AAB2F-33BA-BB5D-8ADD-1F241BEB3615}"/>
              </a:ext>
            </a:extLst>
          </p:cNvPr>
          <p:cNvSpPr txBox="1"/>
          <p:nvPr/>
        </p:nvSpPr>
        <p:spPr>
          <a:xfrm>
            <a:off x="4000500" y="398685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REFERENCES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33430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098E60-8990-4496-BC43-B4BE7E5F3768}"/>
              </a:ext>
            </a:extLst>
          </p:cNvPr>
          <p:cNvSpPr txBox="1"/>
          <p:nvPr/>
        </p:nvSpPr>
        <p:spPr>
          <a:xfrm>
            <a:off x="2021304" y="1427748"/>
            <a:ext cx="6577263" cy="67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 ➜ 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F8B28-4012-4C96-BC09-91F3763DAD0A}"/>
              </a:ext>
            </a:extLst>
          </p:cNvPr>
          <p:cNvSpPr txBox="1"/>
          <p:nvPr/>
        </p:nvSpPr>
        <p:spPr>
          <a:xfrm>
            <a:off x="3128210" y="1427748"/>
            <a:ext cx="80050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https://github.com/Shivanigidya/Customer-support-dataset-with-multi-itent-annotations-for-conservational-AI/tree/main</a:t>
            </a:r>
            <a:endParaRPr lang="en-IN" dirty="0"/>
          </a:p>
          <a:p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94928A-AE1A-3C76-9AD2-36963B251F45}"/>
              </a:ext>
            </a:extLst>
          </p:cNvPr>
          <p:cNvGrpSpPr/>
          <p:nvPr/>
        </p:nvGrpSpPr>
        <p:grpSpPr>
          <a:xfrm>
            <a:off x="4058816" y="404283"/>
            <a:ext cx="3508310" cy="584776"/>
            <a:chOff x="0" y="0"/>
            <a:chExt cx="2109623" cy="30623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2C969C50-EE51-8B85-BC34-2067A84972BD}"/>
                </a:ext>
              </a:extLst>
            </p:cNvPr>
            <p:cNvSpPr/>
            <p:nvPr/>
          </p:nvSpPr>
          <p:spPr>
            <a:xfrm>
              <a:off x="0" y="0"/>
              <a:ext cx="2109623" cy="306239"/>
            </a:xfrm>
            <a:custGeom>
              <a:avLst/>
              <a:gdLst/>
              <a:ahLst/>
              <a:cxnLst/>
              <a:rect l="l" t="t" r="r" b="b"/>
              <a:pathLst>
                <a:path w="2109623" h="306239">
                  <a:moveTo>
                    <a:pt x="0" y="0"/>
                  </a:moveTo>
                  <a:lnTo>
                    <a:pt x="2109623" y="0"/>
                  </a:lnTo>
                  <a:lnTo>
                    <a:pt x="2109623" y="306239"/>
                  </a:lnTo>
                  <a:lnTo>
                    <a:pt x="0" y="306239"/>
                  </a:lnTo>
                  <a:close/>
                </a:path>
              </a:pathLst>
            </a:custGeom>
            <a:grpFill/>
            <a:ln w="38100" cap="sq">
              <a:solidFill>
                <a:srgbClr val="F1F2F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81B4885-A332-ADDE-5ED6-A10EE21EEF76}"/>
                </a:ext>
              </a:extLst>
            </p:cNvPr>
            <p:cNvSpPr txBox="1"/>
            <p:nvPr/>
          </p:nvSpPr>
          <p:spPr>
            <a:xfrm>
              <a:off x="0" y="-38100"/>
              <a:ext cx="2109623" cy="34433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76DE1E5-1989-9E1F-8946-AD27747B5671}"/>
              </a:ext>
            </a:extLst>
          </p:cNvPr>
          <p:cNvSpPr txBox="1"/>
          <p:nvPr/>
        </p:nvSpPr>
        <p:spPr>
          <a:xfrm>
            <a:off x="4392387" y="407979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 LINK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19048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010" y="1377950"/>
            <a:ext cx="6634480" cy="39084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1723</Words>
  <Application>Microsoft Office PowerPoint</Application>
  <PresentationFormat>Widescreen</PresentationFormat>
  <Paragraphs>197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Times New Roman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Adithya Reddy</dc:creator>
  <cp:lastModifiedBy>M. sai harshini</cp:lastModifiedBy>
  <cp:revision>39</cp:revision>
  <dcterms:created xsi:type="dcterms:W3CDTF">2025-03-19T05:04:00Z</dcterms:created>
  <dcterms:modified xsi:type="dcterms:W3CDTF">2026-03-23T06:15:39Z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F2C8E10C63F14551A765A09C3EA9AC78_13</vt:lpwstr>
  </property>
  <property fmtid="{D5CDD505-2E9C-101B-9397-08002B2CF9AE}" pid="3" name="KSOProductBuildVer">
    <vt:lpwstr>1033-12.2.0.23196</vt:lpwstr>
  </property>
</Properties>
</file>